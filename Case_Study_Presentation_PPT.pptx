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408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016237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3" name="Shape 1"/>
          <p:cNvSpPr/>
          <p:nvPr/>
        </p:nvSpPr>
        <p:spPr>
          <a:xfrm>
            <a:off x="7132320" y="-457200"/>
            <a:ext cx="2743200" cy="2743200"/>
          </a:xfrm>
          <a:prstGeom prst="ellipse">
            <a:avLst/>
          </a:prstGeom>
          <a:solidFill>
            <a:srgbClr val="1D9E75">
              <a:alpha val="15000"/>
            </a:srgbClr>
          </a:solidFill>
          <a:ln w="12700">
            <a:solidFill>
              <a:srgbClr val="1D9E75">
                <a:alpha val="1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863840" y="274320"/>
            <a:ext cx="1645920" cy="1645920"/>
          </a:xfrm>
          <a:prstGeom prst="ellipse">
            <a:avLst/>
          </a:prstGeom>
          <a:solidFill>
            <a:srgbClr val="EF9F27">
              <a:alpha val="20000"/>
            </a:srgbClr>
          </a:solidFill>
          <a:ln w="12700">
            <a:solidFill>
              <a:srgbClr val="EF9F27">
                <a:alpha val="2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188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kern="0" spc="200" dirty="0">
                <a:solidFill>
                  <a:srgbClr val="A8C4E0"/>
                </a:solidFill>
              </a:rPr>
              <a:t>Customer Support Analytics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11480" y="160020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Warehouse Pipeline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411480" y="2633472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8C4E0"/>
                </a:solidFill>
              </a:rPr>
              <a:t>Raw  →  Staging  →  Dimensions  →  Fact Table  →  Insights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11480" y="4069080"/>
            <a:ext cx="1920240" cy="749808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411480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200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11480" y="443484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8C4E0"/>
                </a:solidFill>
              </a:rPr>
              <a:t>Cases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560320" y="4069080"/>
            <a:ext cx="1920240" cy="749808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60320" y="411480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150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560320" y="443484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8C4E0"/>
                </a:solidFill>
              </a:rPr>
              <a:t>Customers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709160" y="4069080"/>
            <a:ext cx="1920240" cy="749808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09160" y="411480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40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709160" y="443484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8C4E0"/>
                </a:solidFill>
              </a:rPr>
              <a:t>Agents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858000" y="4069080"/>
            <a:ext cx="1920240" cy="749808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0" y="411480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4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858000" y="443484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8C4E0"/>
                </a:solidFill>
              </a:rPr>
              <a:t>Regions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The Data We Started With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228600" y="713232"/>
            <a:ext cx="2834640" cy="41330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713232"/>
            <a:ext cx="2834640" cy="54864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8229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</a:rPr>
              <a:t>cases.csv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1115568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</a:rPr>
              <a:t>200 rows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5760" y="1389888"/>
            <a:ext cx="246888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481328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A99"/>
                </a:solidFill>
              </a:rPr>
              <a:t>— case_id — unique ticket ID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65760" y="1956816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A99"/>
                </a:solidFill>
              </a:rPr>
              <a:t>— created_at — when ticket was opened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65760" y="2432304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A99"/>
                </a:solidFill>
              </a:rPr>
              <a:t>— closed_at — empty for open tickets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65760" y="2907792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A99"/>
                </a:solidFill>
              </a:rPr>
              <a:t>— customer_id  /  agent_id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65760" y="3383280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A99"/>
                </a:solidFill>
              </a:rPr>
              <a:t>— category  ·  priority  ·  status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200400" y="713232"/>
            <a:ext cx="2834640" cy="41330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0" y="713232"/>
            <a:ext cx="2834640" cy="54864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16" name="Text 14"/>
          <p:cNvSpPr/>
          <p:nvPr/>
        </p:nvSpPr>
        <p:spPr>
          <a:xfrm>
            <a:off x="3337560" y="8229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</a:rPr>
              <a:t>customers.csv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337560" y="1115568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D9E75"/>
                </a:solidFill>
              </a:rPr>
              <a:t>150 rows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337560" y="1389888"/>
            <a:ext cx="246888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37560" y="1481328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A99"/>
                </a:solidFill>
              </a:rPr>
              <a:t>— customer_id — unique ID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337560" y="1956816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A99"/>
                </a:solidFill>
              </a:rPr>
              <a:t>— customer_name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337560" y="2432304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A99"/>
                </a:solidFill>
              </a:rPr>
              <a:t>— region — APAC / LATAM / Europe / NA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337560" y="2907792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A99"/>
                </a:solidFill>
              </a:rPr>
              <a:t>— signup_date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172200" y="713232"/>
            <a:ext cx="2834640" cy="41330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172200" y="713232"/>
            <a:ext cx="2834640" cy="54864"/>
          </a:xfrm>
          <a:prstGeom prst="rect">
            <a:avLst/>
          </a:prstGeom>
          <a:solidFill>
            <a:srgbClr val="EF9F27"/>
          </a:solidFill>
          <a:ln/>
        </p:spPr>
      </p:sp>
      <p:sp>
        <p:nvSpPr>
          <p:cNvPr id="25" name="Text 23"/>
          <p:cNvSpPr/>
          <p:nvPr/>
        </p:nvSpPr>
        <p:spPr>
          <a:xfrm>
            <a:off x="6309360" y="8229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</a:rPr>
              <a:t>agents.csv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309360" y="1115568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F9F27"/>
                </a:solidFill>
              </a:rPr>
              <a:t>40 rows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309360" y="1389888"/>
            <a:ext cx="246888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09360" y="1481328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A99"/>
                </a:solidFill>
              </a:rPr>
              <a:t>— agent_id — unique ID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309360" y="1956816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A99"/>
                </a:solidFill>
              </a:rPr>
              <a:t>— agent_name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309360" y="2432304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A99"/>
                </a:solidFill>
              </a:rPr>
              <a:t>— team — Billing / Tier 1 / Tier 2 / Escalations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228600" y="4736592"/>
            <a:ext cx="8686800" cy="292608"/>
          </a:xfrm>
          <a:prstGeom prst="rect">
            <a:avLst/>
          </a:prstGeom>
          <a:solidFill>
            <a:srgbClr val="E1F5EE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5760" y="4764024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D9E75"/>
                </a:solidFill>
              </a:rPr>
              <a:t>All three files loaded exactly as received into the Raw layer — all strings, no transformations.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Step 1  —  Profile Before You Design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228600" y="713232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2A"/>
                </a:solidFill>
              </a:rPr>
              <a:t>What we found before writing a single line of SQL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228600" y="1024128"/>
            <a:ext cx="2011680" cy="22128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024128"/>
            <a:ext cx="2011680" cy="54864"/>
          </a:xfrm>
          <a:prstGeom prst="rect">
            <a:avLst/>
          </a:prstGeom>
          <a:solidFill>
            <a:srgbClr val="E24B4A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" y="1097280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24B4A"/>
                </a:solidFill>
              </a:rPr>
              <a:t>9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320040" y="1645920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11827"/>
                </a:solidFill>
              </a:rPr>
              <a:t>Closed — no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111827"/>
                </a:solidFill>
              </a:rPr>
              <a:t>closed timestamp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731520" y="2121408"/>
            <a:ext cx="1005840" cy="182880"/>
          </a:xfrm>
          <a:prstGeom prst="rect">
            <a:avLst/>
          </a:prstGeom>
          <a:solidFill>
            <a:srgbClr val="FCEBEB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121408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E24B4A"/>
                </a:solidFill>
              </a:rPr>
              <a:t>HIGH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320040" y="235915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B7A99"/>
                </a:solidFill>
              </a:rPr>
              <a:t>Flag it. Set resolution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6B7A99"/>
                </a:solidFill>
              </a:rPr>
              <a:t>time = NULL. Never delete.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441448" y="1024128"/>
            <a:ext cx="2011680" cy="22128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441448" y="1024128"/>
            <a:ext cx="2011680" cy="54864"/>
          </a:xfrm>
          <a:prstGeom prst="rect">
            <a:avLst/>
          </a:prstGeom>
          <a:solidFill>
            <a:srgbClr val="EF9F27"/>
          </a:solidFill>
          <a:ln/>
        </p:spPr>
      </p:sp>
      <p:sp>
        <p:nvSpPr>
          <p:cNvPr id="14" name="Text 12"/>
          <p:cNvSpPr/>
          <p:nvPr/>
        </p:nvSpPr>
        <p:spPr>
          <a:xfrm>
            <a:off x="2441448" y="1097280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3000" b="1" dirty="0">
                <a:solidFill>
                  <a:srgbClr val="EF9F27"/>
                </a:solidFill>
              </a:rPr>
              <a:t>123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2532888" y="1645920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11827"/>
                </a:solidFill>
              </a:rPr>
              <a:t>Open/On-Hold/In-Progress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111827"/>
                </a:solidFill>
              </a:rPr>
              <a:t>with closed date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944368" y="2121408"/>
            <a:ext cx="1005840" cy="182880"/>
          </a:xfrm>
          <a:prstGeom prst="rect">
            <a:avLst/>
          </a:prstGeom>
          <a:solidFill>
            <a:srgbClr val="FAEEDA"/>
          </a:solidFill>
          <a:ln/>
        </p:spPr>
      </p:sp>
      <p:sp>
        <p:nvSpPr>
          <p:cNvPr id="17" name="Text 15"/>
          <p:cNvSpPr/>
          <p:nvPr/>
        </p:nvSpPr>
        <p:spPr>
          <a:xfrm>
            <a:off x="2944368" y="2121408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EF9F27"/>
                </a:solidFill>
              </a:rPr>
              <a:t>MED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2532888" y="235915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B7A99"/>
                </a:solidFill>
              </a:rPr>
              <a:t>Status and timestamp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6B7A99"/>
                </a:solidFill>
              </a:rPr>
              <a:t>disagree. Flag both.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654296" y="1024128"/>
            <a:ext cx="2011680" cy="22128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54296" y="1024128"/>
            <a:ext cx="2011680" cy="54864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21" name="Text 19"/>
          <p:cNvSpPr/>
          <p:nvPr/>
        </p:nvSpPr>
        <p:spPr>
          <a:xfrm>
            <a:off x="4654296" y="1097280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D9E75"/>
                </a:solidFill>
              </a:rPr>
              <a:t>39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4745736" y="1645920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11827"/>
                </a:solidFill>
              </a:rPr>
              <a:t>NULL closed date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111827"/>
                </a:solidFill>
              </a:rPr>
              <a:t>Open / On Hold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157216" y="2121408"/>
            <a:ext cx="1005840" cy="182880"/>
          </a:xfrm>
          <a:prstGeom prst="rect">
            <a:avLst/>
          </a:prstGeom>
          <a:solidFill>
            <a:srgbClr val="E1F5EE"/>
          </a:solidFill>
          <a:ln/>
        </p:spPr>
      </p:sp>
      <p:sp>
        <p:nvSpPr>
          <p:cNvPr id="24" name="Text 22"/>
          <p:cNvSpPr/>
          <p:nvPr/>
        </p:nvSpPr>
        <p:spPr>
          <a:xfrm>
            <a:off x="5157216" y="2121408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D9E75"/>
                </a:solidFill>
              </a:rPr>
              <a:t>OK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745736" y="235915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B7A99"/>
                </a:solidFill>
              </a:rPr>
              <a:t>Expected behaviour.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6B7A99"/>
                </a:solidFill>
              </a:rPr>
              <a:t>No flag needed.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6867144" y="1024128"/>
            <a:ext cx="2011680" cy="22128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867144" y="1024128"/>
            <a:ext cx="2011680" cy="54864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28" name="Text 26"/>
          <p:cNvSpPr/>
          <p:nvPr/>
        </p:nvSpPr>
        <p:spPr>
          <a:xfrm>
            <a:off x="6867144" y="1097280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D9E75"/>
                </a:solidFill>
              </a:rPr>
              <a:t>0</a:t>
            </a:r>
            <a:endParaRPr lang="en-US" sz="3000" dirty="0"/>
          </a:p>
        </p:txBody>
      </p:sp>
      <p:sp>
        <p:nvSpPr>
          <p:cNvPr id="29" name="Text 27"/>
          <p:cNvSpPr/>
          <p:nvPr/>
        </p:nvSpPr>
        <p:spPr>
          <a:xfrm>
            <a:off x="6958584" y="1645920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11827"/>
                </a:solidFill>
              </a:rPr>
              <a:t>Orphan customer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111827"/>
                </a:solidFill>
              </a:rPr>
              <a:t>or agent joins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7370064" y="2121408"/>
            <a:ext cx="1005840" cy="182880"/>
          </a:xfrm>
          <a:prstGeom prst="rect">
            <a:avLst/>
          </a:prstGeom>
          <a:solidFill>
            <a:srgbClr val="E1F5EE"/>
          </a:solidFill>
          <a:ln/>
        </p:spPr>
      </p:sp>
      <p:sp>
        <p:nvSpPr>
          <p:cNvPr id="31" name="Text 29"/>
          <p:cNvSpPr/>
          <p:nvPr/>
        </p:nvSpPr>
        <p:spPr>
          <a:xfrm>
            <a:off x="7370064" y="2121408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D9E75"/>
                </a:solidFill>
              </a:rPr>
              <a:t>OK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6958584" y="235915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B7A99"/>
                </a:solidFill>
              </a:rPr>
              <a:t>Clean today. Check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6B7A99"/>
                </a:solidFill>
              </a:rPr>
              <a:t>still runs every load.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228600" y="3383280"/>
            <a:ext cx="868680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228600" y="3383280"/>
            <a:ext cx="91440" cy="14630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5" name="Text 33"/>
          <p:cNvSpPr/>
          <p:nvPr/>
        </p:nvSpPr>
        <p:spPr>
          <a:xfrm>
            <a:off x="438912" y="3474720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2A"/>
                </a:solidFill>
              </a:rPr>
              <a:t>Key findings from profiling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438912" y="376732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</a:rPr>
              <a:t>—  Status split: On Hold (57)  ·  Open (50)  ·  Closed (47)  ·  In Progress (46)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438912" y="40233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</a:rPr>
              <a:t>—  Average resolution time for Closed cases: ~97 hours — about 4 days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438912" y="42793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</a:rPr>
              <a:t>—  High priority resolves faster (54h avg) than Low priority (126h avg) — counterintuitive finding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438912" y="4535424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</a:rPr>
              <a:t>—  Decision: flag bad rows, never delete — you need the audit trail to fix the upstream system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Step 2  —  Data Model  ·  Why Star Schema?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3474720" y="749808"/>
            <a:ext cx="21945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F9F27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474720" y="749808"/>
            <a:ext cx="2194560" cy="54864"/>
          </a:xfrm>
          <a:prstGeom prst="rect">
            <a:avLst/>
          </a:prstGeom>
          <a:solidFill>
            <a:srgbClr val="EF9F27"/>
          </a:solidFill>
          <a:ln/>
        </p:spPr>
      </p:sp>
      <p:sp>
        <p:nvSpPr>
          <p:cNvPr id="6" name="Text 4"/>
          <p:cNvSpPr/>
          <p:nvPr/>
        </p:nvSpPr>
        <p:spPr>
          <a:xfrm>
            <a:off x="3474720" y="850392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11827"/>
                </a:solidFill>
              </a:rPr>
              <a:t>dim_date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474720" y="107899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B7A99"/>
                </a:solidFill>
              </a:rPr>
              <a:t>date_key  ·  month  ·  quarter  ·  year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3200400" y="1737360"/>
            <a:ext cx="27432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00400" y="181051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fact_cases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200400" y="210312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A8C4E0"/>
                </a:solidFill>
              </a:rPr>
              <a:t>grain = 1 row per case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3200400" y="2322576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D9E75"/>
                </a:solidFill>
              </a:rPr>
              <a:t>200 rows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28600" y="1737360"/>
            <a:ext cx="228600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1D9E75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28600" y="1737360"/>
            <a:ext cx="2286000" cy="54864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14" name="Text 12"/>
          <p:cNvSpPr/>
          <p:nvPr/>
        </p:nvSpPr>
        <p:spPr>
          <a:xfrm>
            <a:off x="228600" y="1847088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11827"/>
                </a:solidFill>
              </a:rPr>
              <a:t>dim_customer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28600" y="208483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B7A99"/>
                </a:solidFill>
              </a:rPr>
              <a:t>sk_customer  ·  name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6B7A99"/>
                </a:solidFill>
              </a:rPr>
              <a:t>region  ·  signup_date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6629400" y="1737360"/>
            <a:ext cx="228600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1D9E75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629400" y="1737360"/>
            <a:ext cx="2286000" cy="54864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18" name="Text 16"/>
          <p:cNvSpPr/>
          <p:nvPr/>
        </p:nvSpPr>
        <p:spPr>
          <a:xfrm>
            <a:off x="6629400" y="1847088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11827"/>
                </a:solidFill>
              </a:rPr>
              <a:t>dim_agent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629400" y="208483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B7A99"/>
                </a:solidFill>
              </a:rPr>
              <a:t>sk_agent  ·  agent_name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6B7A99"/>
                </a:solidFill>
              </a:rPr>
              <a:t>team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4572000" y="1408176"/>
            <a:ext cx="0" cy="329184"/>
          </a:xfrm>
          <a:prstGeom prst="line">
            <a:avLst/>
          </a:prstGeom>
          <a:noFill/>
          <a:ln w="12700">
            <a:solidFill>
              <a:srgbClr val="6B7A9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514600" y="2130552"/>
            <a:ext cx="685800" cy="0"/>
          </a:xfrm>
          <a:prstGeom prst="line">
            <a:avLst/>
          </a:prstGeom>
          <a:noFill/>
          <a:ln w="12700">
            <a:solidFill>
              <a:srgbClr val="6B7A9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943600" y="2130552"/>
            <a:ext cx="685800" cy="0"/>
          </a:xfrm>
          <a:prstGeom prst="line">
            <a:avLst/>
          </a:prstGeom>
          <a:noFill/>
          <a:ln w="12700">
            <a:solidFill>
              <a:srgbClr val="6B7A9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28600" y="2834640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2A"/>
                </a:solidFill>
              </a:rPr>
              <a:t>Why Star Schema — not 3NF or Data Vault?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228600" y="3145536"/>
            <a:ext cx="2194560" cy="420624"/>
          </a:xfrm>
          <a:prstGeom prst="rect">
            <a:avLst/>
          </a:prstGeom>
          <a:solidFill>
            <a:srgbClr val="E1F5EE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423160" y="3145536"/>
            <a:ext cx="6492240" cy="420624"/>
          </a:xfrm>
          <a:prstGeom prst="rect">
            <a:avLst/>
          </a:prstGeom>
          <a:solidFill>
            <a:srgbClr val="E1F5EE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7472" y="3236976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D9E75"/>
                </a:solidFill>
              </a:rPr>
              <a:t>Star Schema ✓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2542032" y="3236976"/>
            <a:ext cx="6309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A99"/>
                </a:solidFill>
              </a:rPr>
              <a:t>Read-heavy analytics · one source system · BI tools optimised natively for it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228600" y="3657600"/>
            <a:ext cx="219456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423160" y="3657600"/>
            <a:ext cx="649224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47472" y="3749040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11827"/>
                </a:solidFill>
              </a:rPr>
              <a:t>3NF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2542032" y="3749040"/>
            <a:ext cx="6309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A99"/>
                </a:solidFill>
              </a:rPr>
              <a:t>Designed for OLTP write-heavy workloads — wrong fit for analytics reporting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228600" y="4169664"/>
            <a:ext cx="219456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423160" y="4169664"/>
            <a:ext cx="649224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47472" y="4261104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11827"/>
                </a:solidFill>
              </a:rPr>
              <a:t>Data Vault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2542032" y="4261104"/>
            <a:ext cx="6309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A99"/>
                </a:solidFill>
              </a:rPr>
              <a:t>Justified at 10+ sources with frequent schema changes — overkill for this project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Data Model  —  Entity Relationship Diagram</a:t>
            </a:r>
            <a:endParaRPr lang="en-US" sz="15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713232"/>
            <a:ext cx="8229600" cy="42519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Step 3  —  The 4-Layer Architecture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228600" y="713232"/>
            <a:ext cx="201168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6B7A99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713232"/>
            <a:ext cx="2011680" cy="54864"/>
          </a:xfrm>
          <a:prstGeom prst="rect">
            <a:avLst/>
          </a:prstGeom>
          <a:solidFill>
            <a:srgbClr val="6B7A99"/>
          </a:solidFill>
          <a:ln/>
        </p:spPr>
      </p:sp>
      <p:sp>
        <p:nvSpPr>
          <p:cNvPr id="6" name="Text 4"/>
          <p:cNvSpPr/>
          <p:nvPr/>
        </p:nvSpPr>
        <p:spPr>
          <a:xfrm>
            <a:off x="228600" y="804672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6B7A99"/>
                </a:solidFill>
              </a:rPr>
              <a:t>01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28600" y="106070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11827"/>
                </a:solidFill>
              </a:rPr>
              <a:t>Raw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31520" y="1389888"/>
            <a:ext cx="100584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481328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A99"/>
                </a:solidFill>
              </a:rPr>
              <a:t>Land every CSV row exactly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B7A99"/>
                </a:solidFill>
              </a:rPr>
              <a:t>as received. All strings,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B7A99"/>
                </a:solidFill>
              </a:rPr>
              <a:t>no transformations.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65760" y="2432304"/>
            <a:ext cx="1737360" cy="658368"/>
          </a:xfrm>
          <a:prstGeom prst="rect">
            <a:avLst/>
          </a:prstGeom>
          <a:solidFill>
            <a:srgbClr val="F7F8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246888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B7A99"/>
                </a:solidFill>
              </a:rPr>
              <a:t>Why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65760" y="267004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11827"/>
                </a:solidFill>
              </a:rPr>
              <a:t>Replay from here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111827"/>
                </a:solidFill>
              </a:rPr>
              <a:t>if anything breaks.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2240280" y="2286000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B7A99"/>
                </a:solidFill>
              </a:rPr>
              <a:t>→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2441448" y="713232"/>
            <a:ext cx="201168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1D9E75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441448" y="713232"/>
            <a:ext cx="2011680" cy="54864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16" name="Text 14"/>
          <p:cNvSpPr/>
          <p:nvPr/>
        </p:nvSpPr>
        <p:spPr>
          <a:xfrm>
            <a:off x="2441448" y="804672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6B7A99"/>
                </a:solidFill>
              </a:rPr>
              <a:t>02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441448" y="106070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11827"/>
                </a:solidFill>
              </a:rPr>
              <a:t>Staging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2944368" y="1389888"/>
            <a:ext cx="100584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32888" y="1481328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A99"/>
                </a:solidFill>
              </a:rPr>
              <a:t>Parse types, normalise values,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B7A99"/>
                </a:solidFill>
              </a:rPr>
              <a:t>compute resolution time,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B7A99"/>
                </a:solidFill>
              </a:rPr>
              <a:t>raise all 5 DQ flags.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578608" y="2432304"/>
            <a:ext cx="1737360" cy="658368"/>
          </a:xfrm>
          <a:prstGeom prst="rect">
            <a:avLst/>
          </a:prstGeom>
          <a:solidFill>
            <a:srgbClr val="F7F8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78608" y="246888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D9E75"/>
                </a:solidFill>
              </a:rPr>
              <a:t>Why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2578608" y="267004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11827"/>
                </a:solidFill>
              </a:rPr>
              <a:t>All business logic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111827"/>
                </a:solidFill>
              </a:rPr>
              <a:t>in one place.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453128" y="2286000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B7A99"/>
                </a:solidFill>
              </a:rPr>
              <a:t>→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654296" y="713232"/>
            <a:ext cx="201168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F9F27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54296" y="713232"/>
            <a:ext cx="2011680" cy="54864"/>
          </a:xfrm>
          <a:prstGeom prst="rect">
            <a:avLst/>
          </a:prstGeom>
          <a:solidFill>
            <a:srgbClr val="EF9F27"/>
          </a:solidFill>
          <a:ln/>
        </p:spPr>
      </p:sp>
      <p:sp>
        <p:nvSpPr>
          <p:cNvPr id="26" name="Text 24"/>
          <p:cNvSpPr/>
          <p:nvPr/>
        </p:nvSpPr>
        <p:spPr>
          <a:xfrm>
            <a:off x="4654296" y="804672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6B7A99"/>
                </a:solidFill>
              </a:rPr>
              <a:t>03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654296" y="106070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11827"/>
                </a:solidFill>
              </a:rPr>
              <a:t>Dimensions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5157216" y="1389888"/>
            <a:ext cx="100584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45736" y="1481328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A99"/>
                </a:solidFill>
              </a:rPr>
              <a:t>Clean lookup tables for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B7A99"/>
                </a:solidFill>
              </a:rPr>
              <a:t>customer, agent and date.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B7A99"/>
                </a:solidFill>
              </a:rPr>
              <a:t>Surrogate keys + SCD2 ready.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791456" y="2432304"/>
            <a:ext cx="1737360" cy="658368"/>
          </a:xfrm>
          <a:prstGeom prst="rect">
            <a:avLst/>
          </a:prstGeom>
          <a:solidFill>
            <a:srgbClr val="F7F8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91456" y="246888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EF9F27"/>
                </a:solidFill>
              </a:rPr>
              <a:t>Why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4791456" y="267004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11827"/>
                </a:solidFill>
              </a:rPr>
              <a:t>Stable joins even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111827"/>
                </a:solidFill>
              </a:rPr>
              <a:t>if source IDs change.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6665976" y="2286000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B7A99"/>
                </a:solidFill>
              </a:rPr>
              <a:t>→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6867144" y="713232"/>
            <a:ext cx="2011680" cy="35204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867144" y="713232"/>
            <a:ext cx="2011680" cy="54864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6" name="Text 34"/>
          <p:cNvSpPr/>
          <p:nvPr/>
        </p:nvSpPr>
        <p:spPr>
          <a:xfrm>
            <a:off x="6867144" y="804672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6B8FAE"/>
                </a:solidFill>
              </a:rPr>
              <a:t>04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867144" y="106070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Fact Table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7370064" y="1389888"/>
            <a:ext cx="100584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958584" y="1481328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8C4E0"/>
                </a:solidFill>
              </a:rPr>
              <a:t>One row per case.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A8C4E0"/>
                </a:solidFill>
              </a:rPr>
              <a:t>All metrics + context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A8C4E0"/>
                </a:solidFill>
              </a:rPr>
              <a:t>already joined in.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7004304" y="2432304"/>
            <a:ext cx="1737360" cy="658368"/>
          </a:xfrm>
          <a:prstGeom prst="rect">
            <a:avLst/>
          </a:prstGeom>
          <a:solidFill>
            <a:srgbClr val="1A305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004304" y="246888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1B2A"/>
                </a:solidFill>
              </a:rPr>
              <a:t>Why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7004304" y="267004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A8C4E0"/>
                </a:solidFill>
              </a:rPr>
              <a:t>Zero joins for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A8C4E0"/>
                </a:solidFill>
              </a:rPr>
              <a:t>most BI queries.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228600" y="4407408"/>
            <a:ext cx="8686800" cy="438912"/>
          </a:xfrm>
          <a:prstGeom prst="rect">
            <a:avLst/>
          </a:prstGeom>
          <a:solidFill>
            <a:srgbClr val="E1F5EE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65760" y="4462272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D9E75"/>
                </a:solidFill>
              </a:rPr>
              <a:t>Each layer has one job. Change a rule in staging and everything downstream picks it up automatically.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Step 4  —  Pipeline Execution Order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228600" y="749808"/>
            <a:ext cx="420624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93192" y="914400"/>
            <a:ext cx="457200" cy="457200"/>
          </a:xfrm>
          <a:prstGeom prst="ellipse">
            <a:avLst/>
          </a:prstGeom>
          <a:solidFill>
            <a:srgbClr val="6B7A99"/>
          </a:solidFill>
          <a:ln/>
        </p:spPr>
      </p:sp>
      <p:sp>
        <p:nvSpPr>
          <p:cNvPr id="6" name="Text 4"/>
          <p:cNvSpPr/>
          <p:nvPr/>
        </p:nvSpPr>
        <p:spPr>
          <a:xfrm>
            <a:off x="393192" y="914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96696" y="87782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11827"/>
                </a:solidFill>
              </a:rPr>
              <a:t>COPY INTO raw tables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996696" y="1170432"/>
            <a:ext cx="3291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A99"/>
                </a:solidFill>
              </a:rPr>
              <a:t>CSV → internal stage → raw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6B7A99"/>
                </a:solidFill>
              </a:rPr>
              <a:t>All VARCHAR — never fail on load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6B7A99"/>
                </a:solidFill>
              </a:rPr>
              <a:t>_source_file tracks every row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331720" y="2011680"/>
            <a:ext cx="0" cy="137160"/>
          </a:xfrm>
          <a:prstGeom prst="line">
            <a:avLst/>
          </a:prstGeom>
          <a:noFill/>
          <a:ln w="12700">
            <a:solidFill>
              <a:srgbClr val="6B7A9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8600" y="2167128"/>
            <a:ext cx="420624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93192" y="2331720"/>
            <a:ext cx="457200" cy="457200"/>
          </a:xfrm>
          <a:prstGeom prst="ellipse">
            <a:avLst/>
          </a:prstGeom>
          <a:solidFill>
            <a:srgbClr val="6B7A99"/>
          </a:solidFill>
          <a:ln/>
        </p:spPr>
      </p:sp>
      <p:sp>
        <p:nvSpPr>
          <p:cNvPr id="12" name="Text 10"/>
          <p:cNvSpPr/>
          <p:nvPr/>
        </p:nvSpPr>
        <p:spPr>
          <a:xfrm>
            <a:off x="393192" y="2331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96696" y="229514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11827"/>
                </a:solidFill>
              </a:rPr>
              <a:t>MERGE stg_customers + agents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996696" y="2587752"/>
            <a:ext cx="3291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A99"/>
                </a:solidFill>
              </a:rPr>
              <a:t>Customers first, agents second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6B7A99"/>
                </a:solidFill>
              </a:rPr>
              <a:t>Both needed before cases MERGE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6B7A99"/>
                </a:solidFill>
              </a:rPr>
              <a:t>to check for orphan records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2331720" y="3429000"/>
            <a:ext cx="0" cy="137160"/>
          </a:xfrm>
          <a:prstGeom prst="line">
            <a:avLst/>
          </a:prstGeom>
          <a:noFill/>
          <a:ln w="12700">
            <a:solidFill>
              <a:srgbClr val="6B7A9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8600" y="3584448"/>
            <a:ext cx="420624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93192" y="3749040"/>
            <a:ext cx="457200" cy="457200"/>
          </a:xfrm>
          <a:prstGeom prst="ellipse">
            <a:avLst/>
          </a:prstGeom>
          <a:solidFill>
            <a:srgbClr val="1D9E75"/>
          </a:solidFill>
          <a:ln/>
        </p:spPr>
      </p:sp>
      <p:sp>
        <p:nvSpPr>
          <p:cNvPr id="18" name="Text 16"/>
          <p:cNvSpPr/>
          <p:nvPr/>
        </p:nvSpPr>
        <p:spPr>
          <a:xfrm>
            <a:off x="393192" y="3749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96696" y="371246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11827"/>
                </a:solidFill>
              </a:rPr>
              <a:t>MERGE stg_cases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996696" y="4005072"/>
            <a:ext cx="3291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A99"/>
                </a:solidFill>
              </a:rPr>
              <a:t>Parse timestamps with TRY_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6B7A99"/>
                </a:solidFill>
              </a:rPr>
              <a:t>Compute resolution time + bucket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6B7A99"/>
                </a:solidFill>
              </a:rPr>
              <a:t>Raise all 5 DQ flags here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709160" y="749808"/>
            <a:ext cx="420624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873752" y="914400"/>
            <a:ext cx="457200" cy="457200"/>
          </a:xfrm>
          <a:prstGeom prst="ellipse">
            <a:avLst/>
          </a:prstGeom>
          <a:solidFill>
            <a:srgbClr val="EF9F27"/>
          </a:solidFill>
          <a:ln/>
        </p:spPr>
      </p:sp>
      <p:sp>
        <p:nvSpPr>
          <p:cNvPr id="23" name="Text 21"/>
          <p:cNvSpPr/>
          <p:nvPr/>
        </p:nvSpPr>
        <p:spPr>
          <a:xfrm>
            <a:off x="4873752" y="914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477256" y="87782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11827"/>
                </a:solidFill>
              </a:rPr>
              <a:t>INSERT dim_customer + agent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477256" y="1170432"/>
            <a:ext cx="3291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A99"/>
                </a:solidFill>
              </a:rPr>
              <a:t>NOT EXISTS guard — safe to rerun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6B7A99"/>
                </a:solidFill>
              </a:rPr>
              <a:t>SCD2 columns ready for production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6B7A99"/>
                </a:solidFill>
              </a:rPr>
              <a:t>Surrogate keys auto-generated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6812280" y="2011680"/>
            <a:ext cx="0" cy="137160"/>
          </a:xfrm>
          <a:prstGeom prst="line">
            <a:avLst/>
          </a:prstGeom>
          <a:noFill/>
          <a:ln w="12700">
            <a:solidFill>
              <a:srgbClr val="6B7A99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09160" y="2167128"/>
            <a:ext cx="420624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873752" y="2331720"/>
            <a:ext cx="457200" cy="457200"/>
          </a:xfrm>
          <a:prstGeom prst="ellipse">
            <a:avLst/>
          </a:prstGeom>
          <a:solidFill>
            <a:srgbClr val="0D1B2A"/>
          </a:solidFill>
          <a:ln/>
        </p:spPr>
      </p:sp>
      <p:sp>
        <p:nvSpPr>
          <p:cNvPr id="29" name="Text 27"/>
          <p:cNvSpPr/>
          <p:nvPr/>
        </p:nvSpPr>
        <p:spPr>
          <a:xfrm>
            <a:off x="4873752" y="2331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477256" y="229514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11827"/>
                </a:solidFill>
              </a:rPr>
              <a:t>MERGE facts.fact_cases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5477256" y="2587752"/>
            <a:ext cx="3291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A99"/>
                </a:solidFill>
              </a:rPr>
              <a:t>Join to dims (is_current = TRUE)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6B7A99"/>
                </a:solidFill>
              </a:rPr>
              <a:t>Update only if something changed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6B7A99"/>
                </a:solidFill>
              </a:rPr>
              <a:t>DQ rows included, flagged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6812280" y="3429000"/>
            <a:ext cx="0" cy="137160"/>
          </a:xfrm>
          <a:prstGeom prst="line">
            <a:avLst/>
          </a:prstGeom>
          <a:noFill/>
          <a:ln w="12700">
            <a:solidFill>
              <a:srgbClr val="6B7A99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09160" y="3584448"/>
            <a:ext cx="420624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873752" y="3749040"/>
            <a:ext cx="457200" cy="457200"/>
          </a:xfrm>
          <a:prstGeom prst="ellipse">
            <a:avLst/>
          </a:prstGeom>
          <a:solidFill>
            <a:srgbClr val="1D9E75"/>
          </a:solidFill>
          <a:ln/>
        </p:spPr>
      </p:sp>
      <p:sp>
        <p:nvSpPr>
          <p:cNvPr id="35" name="Text 33"/>
          <p:cNvSpPr/>
          <p:nvPr/>
        </p:nvSpPr>
        <p:spPr>
          <a:xfrm>
            <a:off x="4873752" y="3749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6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5477256" y="371246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11827"/>
                </a:solidFill>
              </a:rPr>
              <a:t>Post-load validation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5477256" y="4005072"/>
            <a:ext cx="3291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A99"/>
                </a:solidFill>
              </a:rPr>
              <a:t>6 checks: row count, DQ %,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6B7A99"/>
                </a:solidFill>
              </a:rPr>
              <a:t>negative hours, orphans,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6B7A99"/>
                </a:solidFill>
              </a:rPr>
              <a:t>resolution sanity by priority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228600" y="5010912"/>
            <a:ext cx="8686800" cy="320040"/>
          </a:xfrm>
          <a:prstGeom prst="rect">
            <a:avLst/>
          </a:prstGeom>
          <a:solidFill>
            <a:srgbClr val="E1F5EE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5760" y="5047488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D9E75"/>
                </a:solidFill>
              </a:rPr>
              <a:t>MERGE everywhere — not INSERT. Idempotent: safe to rerun after any failure without creating duplicates.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Step 5  —  Data Quality Checks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228600" y="713232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2A"/>
                </a:solidFill>
              </a:rPr>
              <a:t>5 DQ flags in the fact table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228600" y="1005840"/>
            <a:ext cx="86868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005840"/>
            <a:ext cx="73152" cy="365760"/>
          </a:xfrm>
          <a:prstGeom prst="rect">
            <a:avLst/>
          </a:prstGeom>
          <a:solidFill>
            <a:srgbClr val="E24B4A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1078992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dq_flag_closed_no_timestamp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3931920" y="107899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A99"/>
                </a:solidFill>
              </a:rPr>
              <a:t>Closed status but no closed_at date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7680960" y="1078992"/>
            <a:ext cx="1097280" cy="237744"/>
          </a:xfrm>
          <a:prstGeom prst="rect">
            <a:avLst/>
          </a:prstGeom>
          <a:solidFill>
            <a:srgbClr val="FCEBEB"/>
          </a:solidFill>
          <a:ln/>
        </p:spPr>
      </p:sp>
      <p:sp>
        <p:nvSpPr>
          <p:cNvPr id="10" name="Text 8"/>
          <p:cNvSpPr/>
          <p:nvPr/>
        </p:nvSpPr>
        <p:spPr>
          <a:xfrm>
            <a:off x="7680960" y="107899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E24B4A"/>
                </a:solidFill>
              </a:rPr>
              <a:t>9 rows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28600" y="1444752"/>
            <a:ext cx="86868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28600" y="1444752"/>
            <a:ext cx="73152" cy="365760"/>
          </a:xfrm>
          <a:prstGeom prst="rect">
            <a:avLst/>
          </a:prstGeom>
          <a:solidFill>
            <a:srgbClr val="EF9F27"/>
          </a:solidFill>
          <a:ln/>
        </p:spPr>
      </p:sp>
      <p:sp>
        <p:nvSpPr>
          <p:cNvPr id="13" name="Text 11"/>
          <p:cNvSpPr/>
          <p:nvPr/>
        </p:nvSpPr>
        <p:spPr>
          <a:xfrm>
            <a:off x="411480" y="1517904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dq_flag_status_ts_mismatch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931920" y="151790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A99"/>
                </a:solidFill>
              </a:rPr>
              <a:t>Open/On-Hold/In-Progress but has a closed_at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7680960" y="1517904"/>
            <a:ext cx="1097280" cy="237744"/>
          </a:xfrm>
          <a:prstGeom prst="rect">
            <a:avLst/>
          </a:prstGeom>
          <a:solidFill>
            <a:srgbClr val="FAEEDA"/>
          </a:solidFill>
          <a:ln/>
        </p:spPr>
      </p:sp>
      <p:sp>
        <p:nvSpPr>
          <p:cNvPr id="16" name="Text 14"/>
          <p:cNvSpPr/>
          <p:nvPr/>
        </p:nvSpPr>
        <p:spPr>
          <a:xfrm>
            <a:off x="7680960" y="1517904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EF9F27"/>
                </a:solidFill>
              </a:rPr>
              <a:t>123 rows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228600" y="1883664"/>
            <a:ext cx="86868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28600" y="1883664"/>
            <a:ext cx="73152" cy="365760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19" name="Text 17"/>
          <p:cNvSpPr/>
          <p:nvPr/>
        </p:nvSpPr>
        <p:spPr>
          <a:xfrm>
            <a:off x="411480" y="1956816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dq_flag_invalid_created_at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931920" y="1956816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A99"/>
                </a:solidFill>
              </a:rPr>
              <a:t>created_at string could not be parsed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7680960" y="1956816"/>
            <a:ext cx="1097280" cy="237744"/>
          </a:xfrm>
          <a:prstGeom prst="rect">
            <a:avLst/>
          </a:prstGeom>
          <a:solidFill>
            <a:srgbClr val="E1F5EE"/>
          </a:solidFill>
          <a:ln/>
        </p:spPr>
      </p:sp>
      <p:sp>
        <p:nvSpPr>
          <p:cNvPr id="22" name="Text 20"/>
          <p:cNvSpPr/>
          <p:nvPr/>
        </p:nvSpPr>
        <p:spPr>
          <a:xfrm>
            <a:off x="7680960" y="1956816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D9E75"/>
                </a:solidFill>
              </a:rPr>
              <a:t>0 rows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228600" y="2322576"/>
            <a:ext cx="86868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28600" y="2322576"/>
            <a:ext cx="73152" cy="365760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25" name="Text 23"/>
          <p:cNvSpPr/>
          <p:nvPr/>
        </p:nvSpPr>
        <p:spPr>
          <a:xfrm>
            <a:off x="411480" y="2395728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dq_flag_orphan_customer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3931920" y="239572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A99"/>
                </a:solidFill>
              </a:rPr>
              <a:t>customer_id not found in dim_customer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7680960" y="2395728"/>
            <a:ext cx="1097280" cy="237744"/>
          </a:xfrm>
          <a:prstGeom prst="rect">
            <a:avLst/>
          </a:prstGeom>
          <a:solidFill>
            <a:srgbClr val="E1F5EE"/>
          </a:solidFill>
          <a:ln/>
        </p:spPr>
      </p:sp>
      <p:sp>
        <p:nvSpPr>
          <p:cNvPr id="28" name="Text 26"/>
          <p:cNvSpPr/>
          <p:nvPr/>
        </p:nvSpPr>
        <p:spPr>
          <a:xfrm>
            <a:off x="7680960" y="2395728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D9E75"/>
                </a:solidFill>
              </a:rPr>
              <a:t>0 rows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228600" y="2761488"/>
            <a:ext cx="86868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28600" y="2761488"/>
            <a:ext cx="73152" cy="365760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31" name="Text 29"/>
          <p:cNvSpPr/>
          <p:nvPr/>
        </p:nvSpPr>
        <p:spPr>
          <a:xfrm>
            <a:off x="411480" y="2834640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dq_flag_orphan_agent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3931920" y="283464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A99"/>
                </a:solidFill>
              </a:rPr>
              <a:t>agent_id not found in dim_agent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7680960" y="2834640"/>
            <a:ext cx="1097280" cy="237744"/>
          </a:xfrm>
          <a:prstGeom prst="rect">
            <a:avLst/>
          </a:prstGeom>
          <a:solidFill>
            <a:srgbClr val="E1F5EE"/>
          </a:solidFill>
          <a:ln/>
        </p:spPr>
      </p:sp>
      <p:sp>
        <p:nvSpPr>
          <p:cNvPr id="34" name="Text 32"/>
          <p:cNvSpPr/>
          <p:nvPr/>
        </p:nvSpPr>
        <p:spPr>
          <a:xfrm>
            <a:off x="7680960" y="283464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D9E75"/>
                </a:solidFill>
              </a:rPr>
              <a:t>0 rows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28600" y="3218688"/>
            <a:ext cx="8686800" cy="402336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11480" y="3310128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D9E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has_any_dq_flag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3931920" y="3310128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C4E0"/>
                </a:solidFill>
              </a:rPr>
              <a:t>Summary boolean — KPI queries filter WHERE has_any_dq_flag = FALSE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228600" y="3767328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2A"/>
                </a:solidFill>
              </a:rPr>
              <a:t>6 validation checks after every load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228600" y="4059936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A99"/>
                </a:solidFill>
              </a:rPr>
              <a:t>—  Row count &gt; 0  —  catches a complete pipeline failure or empty file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228600" y="4370832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A99"/>
                </a:solidFill>
              </a:rPr>
              <a:t>—  DQ flag %  —  alert if percentage increases significantly between runs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228600" y="4681728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A99"/>
                </a:solidFill>
              </a:rPr>
              <a:t>—  No negative resolution hours  —  catches time-travel bugs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4709160" y="4059936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A99"/>
                </a:solidFill>
              </a:rPr>
              <a:t>—  Closed cases with NULL resolution  —  measures the 9 upstream bug rows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4709160" y="4370832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A99"/>
                </a:solidFill>
              </a:rPr>
              <a:t>—  NULL sk_customer / sk_agent  —  orphan surrogate keys should be zero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4709160" y="4681728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A99"/>
                </a:solidFill>
              </a:rPr>
              <a:t>—  Avg resolution by priority  —  sanity check the numbers make sense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Key Insights  —  What the Data Says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228600" y="713232"/>
            <a:ext cx="20116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28600" y="786384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1B2A"/>
                </a:solidFill>
              </a:rPr>
              <a:t>96.8h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28600" y="1133856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A99"/>
                </a:solidFill>
              </a:rPr>
              <a:t>Overall avg resolution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441448" y="713232"/>
            <a:ext cx="20116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441448" y="786384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1B2A"/>
                </a:solidFill>
              </a:rPr>
              <a:t>53.7h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2441448" y="1133856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A99"/>
                </a:solidFill>
              </a:rPr>
              <a:t>High priority avg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654296" y="713232"/>
            <a:ext cx="20116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654296" y="786384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1B2A"/>
                </a:solidFill>
              </a:rPr>
              <a:t>60.9h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654296" y="1133856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A99"/>
                </a:solidFill>
              </a:rPr>
              <a:t>Tier 2 avg (best)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6867144" y="713232"/>
            <a:ext cx="20116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867144" y="786384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1B2A"/>
                </a:solidFill>
              </a:rPr>
              <a:t>130h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867144" y="1133856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A99"/>
                </a:solidFill>
              </a:rPr>
              <a:t>Tier 1 avg (slowest)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228600" y="1600200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1B2A"/>
                </a:solidFill>
              </a:rPr>
              <a:t>Avg resolution hours by priority  ·  clean closed cases only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28600" y="1920240"/>
            <a:ext cx="804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11827"/>
                </a:solidFill>
              </a:rPr>
              <a:t>High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1078992" y="1938528"/>
            <a:ext cx="41148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78992" y="1938528"/>
            <a:ext cx="1699729" cy="22860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851873" y="1938528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D9E75"/>
                </a:solidFill>
              </a:rPr>
              <a:t>53.7h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28600" y="2514600"/>
            <a:ext cx="804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11827"/>
                </a:solidFill>
              </a:rPr>
              <a:t>Urgent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1078992" y="2532888"/>
            <a:ext cx="41148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78992" y="2532888"/>
            <a:ext cx="3000639" cy="228600"/>
          </a:xfrm>
          <a:prstGeom prst="rect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52783" y="2532888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F9F27"/>
                </a:solidFill>
              </a:rPr>
              <a:t>94.8h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228600" y="3108960"/>
            <a:ext cx="804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11827"/>
                </a:solidFill>
              </a:rPr>
              <a:t>Medium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1078992" y="3127248"/>
            <a:ext cx="41148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078992" y="3127248"/>
            <a:ext cx="3592537" cy="228600"/>
          </a:xfrm>
          <a:prstGeom prst="rect">
            <a:avLst/>
          </a:prstGeom>
          <a:solidFill>
            <a:srgbClr val="6B7A99"/>
          </a:solidFill>
          <a:ln w="12700">
            <a:solidFill>
              <a:srgbClr val="6B7A9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44681" y="3127248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B7A99"/>
                </a:solidFill>
              </a:rPr>
              <a:t>113.5h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228600" y="3703320"/>
            <a:ext cx="804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11827"/>
                </a:solidFill>
              </a:rPr>
              <a:t>Low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1078992" y="3721608"/>
            <a:ext cx="41148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078992" y="3721608"/>
            <a:ext cx="3997686" cy="228600"/>
          </a:xfrm>
          <a:prstGeom prst="rect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149830" y="3721608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24B4A"/>
                </a:solidFill>
              </a:rPr>
              <a:t>126.3h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228600" y="4315968"/>
            <a:ext cx="5029200" cy="475488"/>
          </a:xfrm>
          <a:prstGeom prst="rect">
            <a:avLst/>
          </a:prstGeom>
          <a:solidFill>
            <a:srgbClr val="FAEEDA"/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352544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11827"/>
                </a:solidFill>
              </a:rPr>
              <a:t>Urgent cases (95h) resolve slower than High (54h) — the Urgent queue may be under-resourced.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5486400" y="1600200"/>
            <a:ext cx="3429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1B2A"/>
                </a:solidFill>
              </a:rPr>
              <a:t>Region breakdown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5486400" y="1883664"/>
            <a:ext cx="34290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5623560" y="1975104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11827"/>
                </a:solidFill>
              </a:rPr>
              <a:t>LATAM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7406640" y="1975104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62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7909560" y="1975104"/>
            <a:ext cx="960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E24B4A"/>
                </a:solidFill>
              </a:rPr>
              <a:t>23% closed — lowest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5486400" y="2377440"/>
            <a:ext cx="34290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5623560" y="2468880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11827"/>
                </a:solidFill>
              </a:rPr>
              <a:t>North America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7406640" y="246888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49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5486400" y="2871216"/>
            <a:ext cx="34290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5623560" y="2962656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11827"/>
                </a:solidFill>
              </a:rPr>
              <a:t>Europe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7406640" y="2962656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47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5486400" y="3364992"/>
            <a:ext cx="34290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5623560" y="3456432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11827"/>
                </a:solidFill>
              </a:rPr>
              <a:t>APAC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7406640" y="3456432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42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5486400" y="4005072"/>
            <a:ext cx="3429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1B2A"/>
                </a:solidFill>
              </a:rPr>
              <a:t>Team performance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5623560" y="427939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11827"/>
                </a:solidFill>
              </a:rPr>
              <a:t>Tier 2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7635240" y="4279392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D9E75"/>
                </a:solidFill>
              </a:rPr>
              <a:t>60.9h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5623560" y="448056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11827"/>
                </a:solidFill>
              </a:rPr>
              <a:t>Billing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7635240" y="448056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6B7A99"/>
                </a:solidFill>
              </a:rPr>
              <a:t>107.5h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5623560" y="4681728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11827"/>
                </a:solidFill>
              </a:rPr>
              <a:t>Escalations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7635240" y="4681728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6B7A99"/>
                </a:solidFill>
              </a:rPr>
              <a:t>121.8h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5623560" y="4882896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11827"/>
                </a:solidFill>
              </a:rPr>
              <a:t>Tier 1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7635240" y="4882896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E24B4A"/>
                </a:solidFill>
              </a:rPr>
              <a:t>130.1h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Taking This to Production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228600" y="713232"/>
            <a:ext cx="4206240" cy="19933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713232"/>
            <a:ext cx="4206240" cy="54864"/>
          </a:xfrm>
          <a:prstGeom prst="rect">
            <a:avLst/>
          </a:prstGeom>
          <a:solidFill>
            <a:srgbClr val="E24B4A"/>
          </a:solidFill>
          <a:ln/>
        </p:spPr>
      </p:sp>
      <p:sp>
        <p:nvSpPr>
          <p:cNvPr id="6" name="Text 4"/>
          <p:cNvSpPr/>
          <p:nvPr/>
        </p:nvSpPr>
        <p:spPr>
          <a:xfrm>
            <a:off x="393192" y="84124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</a:rPr>
              <a:t>Scale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93192" y="11887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A99"/>
                </a:solidFill>
              </a:rPr>
              <a:t>—  Partition fact table by created date (monthly)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393192" y="151790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A99"/>
                </a:solidFill>
              </a:rPr>
              <a:t>—  Incremental MERGE — new/updated rows only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93192" y="184708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A99"/>
                </a:solidFill>
              </a:rPr>
              <a:t>—  Cloud DW auto-scales compute by load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93192" y="217627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A99"/>
                </a:solidFill>
              </a:rPr>
              <a:t>—  Clustering on date key for fast range queries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709160" y="713232"/>
            <a:ext cx="4206240" cy="19933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09160" y="713232"/>
            <a:ext cx="4206240" cy="54864"/>
          </a:xfrm>
          <a:prstGeom prst="rect">
            <a:avLst/>
          </a:prstGeom>
          <a:solidFill>
            <a:srgbClr val="EF9F27"/>
          </a:solidFill>
          <a:ln/>
        </p:spPr>
      </p:sp>
      <p:sp>
        <p:nvSpPr>
          <p:cNvPr id="13" name="Text 11"/>
          <p:cNvSpPr/>
          <p:nvPr/>
        </p:nvSpPr>
        <p:spPr>
          <a:xfrm>
            <a:off x="4873752" y="84124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</a:rPr>
              <a:t>Orchestration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73752" y="11887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A99"/>
                </a:solidFill>
              </a:rPr>
              <a:t>—  Fixed execution order — cannot be swapped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873752" y="151790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A99"/>
                </a:solidFill>
              </a:rPr>
              <a:t>—  Customers + agents load before cases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873752" y="184708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A99"/>
                </a:solidFill>
              </a:rPr>
              <a:t>—  Dimensions must load before fact table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873752" y="217627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A99"/>
                </a:solidFill>
              </a:rPr>
              <a:t>—  Alert on first failure — never proceed blind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28600" y="2889504"/>
            <a:ext cx="4206240" cy="19933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28600" y="2889504"/>
            <a:ext cx="4206240" cy="54864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20" name="Text 18"/>
          <p:cNvSpPr/>
          <p:nvPr/>
        </p:nvSpPr>
        <p:spPr>
          <a:xfrm>
            <a:off x="393192" y="30175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</a:rPr>
              <a:t>Schema changes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93192" y="336499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A99"/>
                </a:solidFill>
              </a:rPr>
              <a:t>—  New column → add as NULLABLE to raw first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93192" y="369417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A99"/>
                </a:solidFill>
              </a:rPr>
              <a:t>—  Cascade: staging → dimensions → fact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93192" y="40233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A99"/>
                </a:solidFill>
              </a:rPr>
              <a:t>—  SCD2 columns already on dim tables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93192" y="435254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A99"/>
                </a:solidFill>
              </a:rPr>
              <a:t>—  Never drop a column without deprecation window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709160" y="2889504"/>
            <a:ext cx="4206240" cy="19933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09160" y="2889504"/>
            <a:ext cx="4206240" cy="54864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27" name="Text 25"/>
          <p:cNvSpPr/>
          <p:nvPr/>
        </p:nvSpPr>
        <p:spPr>
          <a:xfrm>
            <a:off x="4873752" y="30175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</a:rPr>
              <a:t>Monitoring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873752" y="336499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A99"/>
                </a:solidFill>
              </a:rPr>
              <a:t>—  Row count check after every load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873752" y="369417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A99"/>
                </a:solidFill>
              </a:rPr>
              <a:t>—  DQ flag % &gt; 5% → alert before dashboard refreshes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873752" y="40233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A99"/>
                </a:solidFill>
              </a:rPr>
              <a:t>—  Negative resolution hours → immediate alert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873752" y="435254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A99"/>
                </a:solidFill>
              </a:rPr>
              <a:t>—  6 validation queries run as automated tests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3" name="Shape 1"/>
          <p:cNvSpPr/>
          <p:nvPr/>
        </p:nvSpPr>
        <p:spPr>
          <a:xfrm>
            <a:off x="6949440" y="2926080"/>
            <a:ext cx="3200400" cy="3200400"/>
          </a:xfrm>
          <a:prstGeom prst="ellipse">
            <a:avLst/>
          </a:prstGeom>
          <a:solidFill>
            <a:srgbClr val="1D9E75">
              <a:alpha val="12000"/>
            </a:srgbClr>
          </a:solidFill>
          <a:ln w="12700">
            <a:solidFill>
              <a:srgbClr val="1D9E75">
                <a:alpha val="12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77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A8C4E0"/>
                </a:solidFill>
              </a:rPr>
              <a:t>What we delivered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1097280"/>
            <a:ext cx="7772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fact table.</a:t>
            </a:r>
            <a:endParaRPr lang="en-US" sz="3000" dirty="0"/>
          </a:p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question answered.</a:t>
            </a:r>
            <a:endParaRPr lang="en-US" sz="3000" dirty="0"/>
          </a:p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joins at query time.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11480" y="2450592"/>
            <a:ext cx="45720" cy="274320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7" name="Text 5"/>
          <p:cNvSpPr/>
          <p:nvPr/>
        </p:nvSpPr>
        <p:spPr>
          <a:xfrm>
            <a:off x="566928" y="245059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C4E0"/>
                </a:solidFill>
              </a:rPr>
              <a:t>Resolution time  ·  case volume  ·  agent performance  ·  regional trends — all single-table queries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11480" y="2944368"/>
            <a:ext cx="45720" cy="274320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9" name="Text 7"/>
          <p:cNvSpPr/>
          <p:nvPr/>
        </p:nvSpPr>
        <p:spPr>
          <a:xfrm>
            <a:off x="566928" y="294436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C4E0"/>
                </a:solidFill>
              </a:rPr>
              <a:t>Data quality is transparent — 5 flags, dirty rows visible, never silently dropped or deleted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11480" y="3438144"/>
            <a:ext cx="45720" cy="274320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11" name="Text 9"/>
          <p:cNvSpPr/>
          <p:nvPr/>
        </p:nvSpPr>
        <p:spPr>
          <a:xfrm>
            <a:off x="566928" y="3438144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C4E0"/>
                </a:solidFill>
              </a:rPr>
              <a:t>Architecture is layered — each component changes independently without touching the others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11480" y="3931920"/>
            <a:ext cx="45720" cy="274320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13" name="Text 11"/>
          <p:cNvSpPr/>
          <p:nvPr/>
        </p:nvSpPr>
        <p:spPr>
          <a:xfrm>
            <a:off x="566928" y="393192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C4E0"/>
                </a:solidFill>
              </a:rPr>
              <a:t>SCD2 columns already in place — no DDL change needed when production requirements arrive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11480" y="473659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D9E75"/>
                </a:solidFill>
              </a:rPr>
              <a:t>Happy to go deep on any part of this.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1273</Words>
  <Application>Microsoft Office PowerPoint</Application>
  <PresentationFormat>On-screen Show (16:9)</PresentationFormat>
  <Paragraphs>256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Avinash Sharma</cp:lastModifiedBy>
  <cp:revision>2</cp:revision>
  <dcterms:created xsi:type="dcterms:W3CDTF">2026-03-24T04:10:48Z</dcterms:created>
  <dcterms:modified xsi:type="dcterms:W3CDTF">2026-03-24T06:31:48Z</dcterms:modified>
</cp:coreProperties>
</file>